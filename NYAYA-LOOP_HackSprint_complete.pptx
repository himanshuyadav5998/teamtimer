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media/image9.jpg" ContentType="image/jpeg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413" y="4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499795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29415D-B478-3CAC-477E-AA0C32DA73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39DDBA-7363-5E16-502A-B518CA3231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0AA31B-9D78-4476-2233-46A2A5926D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B2C4FA-F298-5F2F-C053-96D00A6D5C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4490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77724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4000" dirty="0">
                <a:solidFill>
                  <a:schemeClr val="accent1"/>
                </a:solidFill>
              </a:defRPr>
            </a:lvl1pPr>
          </a:lstStyle>
          <a:p>
            <a:pPr marL="0" indent="0">
              <a:buNone/>
            </a:pP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HimanshuYadav5998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ield value"/>
          <p:cNvSpPr txBox="1"/>
          <p:nvPr/>
        </p:nvSpPr>
        <p:spPr>
          <a:xfrm>
            <a:off x="1965960" y="3223260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Himanshu Yadav</a:t>
            </a:r>
            <a:endParaRPr lang="en-US" sz="1400" dirty="0"/>
          </a:p>
        </p:txBody>
      </p:sp>
      <p:sp>
        <p:nvSpPr>
          <p:cNvPr id="3" name="Field value"/>
          <p:cNvSpPr txBox="1"/>
          <p:nvPr/>
        </p:nvSpPr>
        <p:spPr>
          <a:xfrm>
            <a:off x="1965960" y="3630168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NYAYA-LOOP (Presented by </a:t>
            </a:r>
            <a:r>
              <a:rPr lang="en-US" sz="1400" b="1" dirty="0" err="1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TeamTimer</a:t>
            </a:r>
            <a:r>
              <a:rPr lang="en-US" sz="14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</a:t>
            </a:r>
            <a:endParaRPr lang="en-US" sz="1400" dirty="0"/>
          </a:p>
        </p:txBody>
      </p:sp>
      <p:sp>
        <p:nvSpPr>
          <p:cNvPr id="4" name="Field value"/>
          <p:cNvSpPr txBox="1"/>
          <p:nvPr/>
        </p:nvSpPr>
        <p:spPr>
          <a:xfrm>
            <a:off x="1965960" y="4023360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Automation with n8n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chemeClr val="accent1"/>
                </a:solidFill>
              </a:rPr>
              <a:t>Solution</a:t>
            </a:r>
            <a:endParaRPr lang="en-US" sz="4000" dirty="0"/>
          </a:p>
        </p:txBody>
      </p:sp>
      <p:sp>
        <p:nvSpPr>
          <p:cNvPr id="3" name="Tagline"/>
          <p:cNvSpPr txBox="1"/>
          <p:nvPr/>
        </p:nvSpPr>
        <p:spPr>
          <a:xfrm>
            <a:off x="457200" y="9144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chemeClr val="tx2"/>
                </a:solidFill>
              </a:rPr>
              <a:t>NYAYA-LOOP: an autonomous agent that chases your grievance until it is resolved</a:t>
            </a:r>
            <a:endParaRPr lang="en-US" sz="1300" dirty="0"/>
          </a:p>
        </p:txBody>
      </p:sp>
      <p:sp>
        <p:nvSpPr>
          <p:cNvPr id="4" name="Problem"/>
          <p:cNvSpPr/>
          <p:nvPr/>
        </p:nvSpPr>
        <p:spPr>
          <a:xfrm>
            <a:off x="457200" y="1325880"/>
            <a:ext cx="2514600" cy="2926080"/>
          </a:xfrm>
          <a:prstGeom prst="roundRect">
            <a:avLst>
              <a:gd name="adj" fmla="val 2909"/>
            </a:avLst>
          </a:prstGeom>
          <a:solidFill>
            <a:schemeClr val="bg1">
              <a:alpha val="92000"/>
            </a:schemeClr>
          </a:solidFill>
          <a:ln w="9525">
            <a:solidFill>
              <a:schemeClr val="accent2"/>
            </a:solidFill>
          </a:ln>
        </p:spPr>
        <p:txBody>
          <a:bodyPr wrap="square" lIns="114300" tIns="127000" rIns="127000" bIns="7620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300" b="1" dirty="0">
                <a:solidFill>
                  <a:schemeClr val="accent2"/>
                </a:solidFill>
              </a:rPr>
              <a:t>Problem</a:t>
            </a:r>
            <a:endParaRPr lang="en-US" sz="1050" dirty="0"/>
          </a:p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Indian law gives citizens deadlines: an RTI reply is due in 30 days, and bank and insurance complaints have fixed windows too.</a:t>
            </a:r>
            <a:endParaRPr lang="en-US" sz="1050" dirty="0"/>
          </a:p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People don't know which authority to approach, can't write a formal letter, and lose track of deadlines.</a:t>
            </a:r>
            <a:endParaRPr lang="en-US" sz="1050" dirty="0"/>
          </a:p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The work is repetitive, scattered across many portals, and needs a decision at every step.</a:t>
            </a:r>
            <a:endParaRPr lang="en-US" sz="1050" dirty="0"/>
          </a:p>
        </p:txBody>
      </p:sp>
      <p:sp>
        <p:nvSpPr>
          <p:cNvPr id="5" name="Solution"/>
          <p:cNvSpPr/>
          <p:nvPr/>
        </p:nvSpPr>
        <p:spPr>
          <a:xfrm>
            <a:off x="3154680" y="1325880"/>
            <a:ext cx="2926080" cy="2926080"/>
          </a:xfrm>
          <a:prstGeom prst="roundRect">
            <a:avLst>
              <a:gd name="adj" fmla="val 2500"/>
            </a:avLst>
          </a:prstGeom>
          <a:solidFill>
            <a:schemeClr val="bg1">
              <a:alpha val="92000"/>
            </a:schemeClr>
          </a:solidFill>
          <a:ln w="9525">
            <a:solidFill>
              <a:schemeClr val="accent2"/>
            </a:solidFill>
          </a:ln>
        </p:spPr>
        <p:txBody>
          <a:bodyPr wrap="square" lIns="114300" tIns="127000" rIns="127000" bIns="7620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300" b="1" dirty="0">
                <a:solidFill>
                  <a:schemeClr val="accent2"/>
                </a:solidFill>
              </a:rPr>
              <a:t>Our solution</a:t>
            </a:r>
            <a:endParaRPr lang="en-US" sz="10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A citizen sends text or a voice note on Telegram in Hindi, Hinglish or English. NYAYA-LOOP then: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/>
            </a:pPr>
            <a:r>
              <a:rPr lang="en-US" sz="1050" dirty="0">
                <a:solidFill>
                  <a:schemeClr val="tx1"/>
                </a:solidFill>
              </a:rPr>
              <a:t>Understands the problem and finds the correct authority and legal route.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/>
            </a:pPr>
            <a:r>
              <a:rPr lang="en-US" sz="1050" dirty="0">
                <a:solidFill>
                  <a:schemeClr val="tx1"/>
                </a:solidFill>
              </a:rPr>
              <a:t>Sets the legal deadline and plans an escalation ladder.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/>
            </a:pPr>
            <a:r>
              <a:rPr lang="en-US" sz="1050" dirty="0">
                <a:solidFill>
                  <a:schemeClr val="tx1"/>
                </a:solidFill>
              </a:rPr>
              <a:t>Drafts a formal complaint.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/>
            </a:pPr>
            <a:r>
              <a:rPr lang="en-US" sz="1050" dirty="0">
                <a:solidFill>
                  <a:schemeClr val="tx1"/>
                </a:solidFill>
              </a:rPr>
              <a:t>Asks the citizen to approve.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/>
            </a:pPr>
            <a:r>
              <a:rPr lang="en-US" sz="1050" dirty="0">
                <a:solidFill>
                  <a:schemeClr val="tx1"/>
                </a:solidFill>
              </a:rPr>
              <a:t>Generates the PDF, files it, and saves the deadline for tracking.</a:t>
            </a:r>
            <a:endParaRPr lang="en-US" sz="1050" dirty="0"/>
          </a:p>
        </p:txBody>
      </p:sp>
      <p:sp>
        <p:nvSpPr>
          <p:cNvPr id="6" name="Differentiators"/>
          <p:cNvSpPr/>
          <p:nvPr/>
        </p:nvSpPr>
        <p:spPr>
          <a:xfrm>
            <a:off x="6263640" y="1325880"/>
            <a:ext cx="2423160" cy="2926080"/>
          </a:xfrm>
          <a:prstGeom prst="roundRect">
            <a:avLst>
              <a:gd name="adj" fmla="val 3019"/>
            </a:avLst>
          </a:prstGeom>
          <a:solidFill>
            <a:schemeClr val="bg1">
              <a:alpha val="92000"/>
            </a:schemeClr>
          </a:solidFill>
          <a:ln w="9525">
            <a:solidFill>
              <a:schemeClr val="accent2"/>
            </a:solidFill>
          </a:ln>
        </p:spPr>
        <p:txBody>
          <a:bodyPr wrap="square" lIns="114300" tIns="127000" rIns="127000" bIns="7620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300" b="1" dirty="0">
                <a:solidFill>
                  <a:schemeClr val="accent2"/>
                </a:solidFill>
              </a:rPr>
              <a:t>What makes it different</a:t>
            </a:r>
            <a:endParaRPr lang="en-US" sz="1050" dirty="0"/>
          </a:p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A stateful, deadline-driven agent, not a one-shot automation.</a:t>
            </a:r>
            <a:endParaRPr lang="en-US" sz="1050" dirty="0"/>
          </a:p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Routing is grounded in a knowledge base of 15 legal routes (RTI, CPGRAMS, UP IGRS, scholarships, consumer, banking and more), so the AI does not invent portals.</a:t>
            </a:r>
            <a:endParaRPr lang="en-US" sz="1050" dirty="0"/>
          </a:p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A human approval gate; the letter uses only facts the citizen gave.</a:t>
            </a:r>
            <a:endParaRPr lang="en-US" sz="1050" dirty="0"/>
          </a:p>
        </p:txBody>
      </p:sp>
      <p:sp>
        <p:nvSpPr>
          <p:cNvPr id="7" name="Status built"/>
          <p:cNvSpPr/>
          <p:nvPr/>
        </p:nvSpPr>
        <p:spPr>
          <a:xfrm>
            <a:off x="457200" y="4389120"/>
            <a:ext cx="3977640" cy="457200"/>
          </a:xfrm>
          <a:prstGeom prst="roundRect">
            <a:avLst>
              <a:gd name="adj" fmla="val 16000"/>
            </a:avLst>
          </a:prstGeom>
          <a:solidFill>
            <a:schemeClr val="bg1">
              <a:alpha val="92000"/>
            </a:schemeClr>
          </a:solidFill>
          <a:ln w="12700">
            <a:solidFill>
              <a:schemeClr val="accent6"/>
            </a:solidFill>
          </a:ln>
        </p:spPr>
        <p:txBody>
          <a:bodyPr wrap="square" lIns="0" tIns="127000" rIns="12700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BUILT  </a:t>
            </a:r>
            <a:r>
              <a:rPr lang="en-US" sz="1000" dirty="0">
                <a:solidFill>
                  <a:schemeClr val="tx1"/>
                </a:solidFill>
              </a:rPr>
              <a:t>intake, routing, case state, letter, approval, PDF, filing</a:t>
            </a:r>
            <a:endParaRPr lang="en-US" sz="1000" dirty="0"/>
          </a:p>
        </p:txBody>
      </p:sp>
      <p:sp>
        <p:nvSpPr>
          <p:cNvPr id="8" name="Status roadmap"/>
          <p:cNvSpPr/>
          <p:nvPr/>
        </p:nvSpPr>
        <p:spPr>
          <a:xfrm>
            <a:off x="4572000" y="4389120"/>
            <a:ext cx="4114800" cy="457200"/>
          </a:xfrm>
          <a:prstGeom prst="roundRect">
            <a:avLst>
              <a:gd name="adj" fmla="val 16000"/>
            </a:avLst>
          </a:prstGeom>
          <a:solidFill>
            <a:schemeClr val="bg1">
              <a:alpha val="92000"/>
            </a:schemeClr>
          </a:solidFill>
          <a:ln w="12700">
            <a:solidFill>
              <a:srgbClr val="7A8794"/>
            </a:solidFill>
            <a:prstDash val="dash"/>
          </a:ln>
        </p:spPr>
        <p:txBody>
          <a:bodyPr wrap="square" lIns="0" tIns="127000" rIns="12700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tx2"/>
                </a:solidFill>
              </a:rPr>
              <a:t>ROADMAP  </a:t>
            </a:r>
            <a:r>
              <a:rPr lang="en-US" sz="1000" dirty="0">
                <a:solidFill>
                  <a:schemeClr val="tx1"/>
                </a:solidFill>
              </a:rPr>
              <a:t>deadline wait, reply monitoring, stalling detection, auto-escalation, public board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chemeClr val="accent1"/>
                </a:solidFill>
              </a:rPr>
              <a:t>Tech Stack &amp; Architecture</a:t>
            </a:r>
            <a:endParaRPr lang="en-US" sz="4000" dirty="0"/>
          </a:p>
        </p:txBody>
      </p:sp>
      <p:graphicFrame>
        <p:nvGraphicFramePr>
          <p:cNvPr id="4" name="Tech stack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5394960" cy="3127248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Layer</a:t>
                      </a:r>
                      <a:endParaRPr lang="en-US" sz="11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B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7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Technology</a:t>
                      </a:r>
                      <a:endParaRPr lang="en-US" sz="11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B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7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Role</a:t>
                      </a:r>
                      <a:endParaRPr lang="en-US" sz="11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B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F2A37"/>
                          </a:solidFill>
                        </a:rPr>
                        <a:t>Orchestration</a:t>
                      </a:r>
                      <a:endParaRPr lang="en-US" sz="9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B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A37"/>
                          </a:solidFill>
                        </a:rPr>
                        <a:t>n8n</a:t>
                      </a:r>
                      <a:endParaRPr lang="en-US" sz="9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B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A37"/>
                          </a:solidFill>
                        </a:rPr>
                        <a:t>The whole workflow: routing, branching, approval, filing</a:t>
                      </a:r>
                      <a:endParaRPr lang="en-US" sz="9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B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F2A37"/>
                          </a:solidFill>
                        </a:rPr>
                        <a:t>Interface</a:t>
                      </a:r>
                      <a:endParaRPr lang="en-US" sz="9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B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A37"/>
                          </a:solidFill>
                        </a:rPr>
                        <a:t>Telegram Bot</a:t>
                      </a:r>
                      <a:endParaRPr lang="en-US" sz="9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B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A37"/>
                          </a:solidFill>
                        </a:rPr>
                        <a:t>Text and voice in, buttons and PDF out</a:t>
                      </a:r>
                      <a:endParaRPr lang="en-US" sz="9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B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F2A37"/>
                          </a:solidFill>
                        </a:rPr>
                        <a:t>AI</a:t>
                      </a:r>
                      <a:endParaRPr lang="en-US" sz="9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B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A37"/>
                          </a:solidFill>
                        </a:rPr>
                        <a:t>Google Gemini Flash-Lite</a:t>
                      </a:r>
                      <a:endParaRPr lang="en-US" sz="9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B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A37"/>
                          </a:solidFill>
                        </a:rPr>
                        <a:t>Routing agent, letter drafting, voice transcription</a:t>
                      </a:r>
                      <a:endParaRPr lang="en-US" sz="9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B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F2A37"/>
                          </a:solidFill>
                        </a:rPr>
                        <a:t>Retrieval</a:t>
                      </a:r>
                      <a:endParaRPr lang="en-US" sz="9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B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A37"/>
                          </a:solidFill>
                        </a:rPr>
                        <a:t>Gemini embeddings + Supabase pgvector</a:t>
                      </a:r>
                      <a:endParaRPr lang="en-US" sz="9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B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A37"/>
                          </a:solidFill>
                        </a:rPr>
                        <a:t>Searches the grievance-route knowledge base</a:t>
                      </a:r>
                      <a:endParaRPr lang="en-US" sz="9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B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F2A37"/>
                          </a:solidFill>
                        </a:rPr>
                        <a:t>State</a:t>
                      </a:r>
                      <a:endParaRPr lang="en-US" sz="9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B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A37"/>
                          </a:solidFill>
                        </a:rPr>
                        <a:t>Supabase Postgres</a:t>
                      </a:r>
                      <a:endParaRPr lang="en-US" sz="9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B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A37"/>
                          </a:solidFill>
                        </a:rPr>
                        <a:t>Cases, event timeline, anonymised public views</a:t>
                      </a:r>
                      <a:endParaRPr lang="en-US" sz="9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B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F2A37"/>
                          </a:solidFill>
                        </a:rPr>
                        <a:t>Files</a:t>
                      </a:r>
                      <a:endParaRPr lang="en-US" sz="9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B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A37"/>
                          </a:solidFill>
                        </a:rPr>
                        <a:t>Supabase Storage</a:t>
                      </a:r>
                      <a:endParaRPr lang="en-US" sz="9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B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A37"/>
                          </a:solidFill>
                        </a:rPr>
                        <a:t>Private bucket for complaint PDFs</a:t>
                      </a:r>
                      <a:endParaRPr lang="en-US" sz="9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B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F2A37"/>
                          </a:solidFill>
                        </a:rPr>
                        <a:t>Documents</a:t>
                      </a:r>
                      <a:endParaRPr lang="en-US" sz="9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B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A37"/>
                          </a:solidFill>
                        </a:rPr>
                        <a:t>PDFShift</a:t>
                      </a:r>
                      <a:endParaRPr lang="en-US" sz="9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B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A37"/>
                          </a:solidFill>
                        </a:rPr>
                        <a:t>HTML to PDF</a:t>
                      </a:r>
                      <a:endParaRPr lang="en-US" sz="9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B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F2A37"/>
                          </a:solidFill>
                        </a:rPr>
                        <a:t>Filing</a:t>
                      </a:r>
                      <a:endParaRPr lang="en-US" sz="9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B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A37"/>
                          </a:solidFill>
                        </a:rPr>
                        <a:t>Gmail</a:t>
                      </a:r>
                      <a:endParaRPr lang="en-US" sz="9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B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A37"/>
                          </a:solidFill>
                        </a:rPr>
                        <a:t>Sends the complaint (demo mode: only to your own inbox)</a:t>
                      </a:r>
                      <a:endParaRPr lang="en-US" sz="9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B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3" name="Design decisions"/>
          <p:cNvSpPr/>
          <p:nvPr/>
        </p:nvSpPr>
        <p:spPr>
          <a:xfrm>
            <a:off x="6035040" y="1097280"/>
            <a:ext cx="2651760" cy="3108960"/>
          </a:xfrm>
          <a:prstGeom prst="roundRect">
            <a:avLst>
              <a:gd name="adj" fmla="val 2759"/>
            </a:avLst>
          </a:prstGeom>
          <a:solidFill>
            <a:schemeClr val="bg1">
              <a:alpha val="92000"/>
            </a:schemeClr>
          </a:solidFill>
          <a:ln w="9525">
            <a:solidFill>
              <a:schemeClr val="accent2"/>
            </a:solidFill>
          </a:ln>
        </p:spPr>
        <p:txBody>
          <a:bodyPr wrap="square" lIns="114300" tIns="127000" rIns="127000" bIns="7620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300" b="1" dirty="0">
                <a:solidFill>
                  <a:schemeClr val="accent2"/>
                </a:solidFill>
              </a:rPr>
              <a:t>Design decisions</a:t>
            </a:r>
            <a:endParaRPr lang="en-US" sz="1050" dirty="0"/>
          </a:p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The agent returns schema-validated JSON, not free text.</a:t>
            </a:r>
            <a:endParaRPr lang="en-US" sz="1050" dirty="0"/>
          </a:p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A database trigger writes the case timeline, so no step can forget to log.</a:t>
            </a:r>
            <a:endParaRPr lang="en-US" sz="1050" dirty="0"/>
          </a:p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Approval checks chat ID and case status, so a double tap does nothing.</a:t>
            </a:r>
            <a:endParaRPr lang="en-US" sz="1050" dirty="0"/>
          </a:p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demo_mode means nothing reaches a real authority during the demo.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chemeClr val="accent1"/>
                </a:solidFill>
              </a:rPr>
              <a:t>Architecture Diagram</a:t>
            </a:r>
            <a:endParaRPr lang="en-US" sz="4000" dirty="0"/>
          </a:p>
        </p:txBody>
      </p:sp>
      <p:pic>
        <p:nvPicPr>
          <p:cNvPr id="3" name="Image 0" descr="Architecture Diagra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880" y="960120"/>
            <a:ext cx="6492240" cy="3648456"/>
          </a:xfrm>
          <a:prstGeom prst="rect">
            <a:avLst/>
          </a:prstGeom>
        </p:spPr>
      </p:pic>
      <p:sp>
        <p:nvSpPr>
          <p:cNvPr id="4" name="Caption"/>
          <p:cNvSpPr txBox="1"/>
          <p:nvPr/>
        </p:nvSpPr>
        <p:spPr>
          <a:xfrm>
            <a:off x="457200" y="46451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chemeClr val="tx2"/>
                </a:solidFill>
              </a:rPr>
              <a:t>Telegram interface, n8n orchestration, Gemini AI and Supabase state, with human approval before any filing.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chemeClr val="accent1"/>
                </a:solidFill>
              </a:rPr>
              <a:t>Data Flow Diagram</a:t>
            </a:r>
            <a:endParaRPr lang="en-US" sz="4000" dirty="0"/>
          </a:p>
        </p:txBody>
      </p:sp>
      <p:pic>
        <p:nvPicPr>
          <p:cNvPr id="3" name="Image 0" descr="Data Flow Diagra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880" y="960120"/>
            <a:ext cx="6492240" cy="3648456"/>
          </a:xfrm>
          <a:prstGeom prst="rect">
            <a:avLst/>
          </a:prstGeom>
        </p:spPr>
      </p:pic>
      <p:sp>
        <p:nvSpPr>
          <p:cNvPr id="4" name="Caption"/>
          <p:cNvSpPr txBox="1"/>
          <p:nvPr/>
        </p:nvSpPr>
        <p:spPr>
          <a:xfrm>
            <a:off x="457200" y="46451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chemeClr val="tx2"/>
                </a:solidFill>
              </a:rPr>
              <a:t>Steps 1-10 are built. Steps 11-15 (dashed) are the roadmap.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chemeClr val="accent1"/>
                </a:solidFill>
              </a:rPr>
              <a:t>Screenshots of Project</a:t>
            </a:r>
            <a:endParaRPr lang="en-US" sz="4000" dirty="0"/>
          </a:p>
        </p:txBody>
      </p:sp>
      <p:sp>
        <p:nvSpPr>
          <p:cNvPr id="4" name="Caption 1"/>
          <p:cNvSpPr txBox="1"/>
          <p:nvPr/>
        </p:nvSpPr>
        <p:spPr>
          <a:xfrm>
            <a:off x="411231" y="266318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chemeClr val="tx1"/>
                </a:solidFill>
              </a:rPr>
              <a:t>. n8n canvas: full workflow, all three stage notes visible</a:t>
            </a:r>
            <a:endParaRPr lang="en-US" sz="900" dirty="0"/>
          </a:p>
        </p:txBody>
      </p:sp>
      <p:sp>
        <p:nvSpPr>
          <p:cNvPr id="5" name="Screenshot 2 placeholder"/>
          <p:cNvSpPr/>
          <p:nvPr/>
        </p:nvSpPr>
        <p:spPr>
          <a:xfrm>
            <a:off x="3246120" y="1051560"/>
            <a:ext cx="2651760" cy="1490472"/>
          </a:xfrm>
          <a:prstGeom prst="rect">
            <a:avLst/>
          </a:prstGeom>
          <a:solidFill>
            <a:schemeClr val="bg1">
              <a:alpha val="75000"/>
            </a:schemeClr>
          </a:solidFill>
          <a:ln w="12700">
            <a:solidFill>
              <a:srgbClr val="7A8794"/>
            </a:solidFill>
            <a:prstDash val="dash"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8794"/>
                </a:solidFill>
              </a:rPr>
              <a:t>2  Insert screenshot</a:t>
            </a:r>
            <a:endParaRPr lang="en-US" sz="1100" dirty="0"/>
          </a:p>
        </p:txBody>
      </p:sp>
      <p:sp>
        <p:nvSpPr>
          <p:cNvPr id="6" name="Caption 2"/>
          <p:cNvSpPr txBox="1"/>
          <p:nvPr/>
        </p:nvSpPr>
        <p:spPr>
          <a:xfrm>
            <a:off x="3375660" y="450342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chemeClr val="tx1"/>
                </a:solidFill>
              </a:rPr>
              <a:t>Telegram: your message and the bot's reply with authority, deadline, Approve / Cancel</a:t>
            </a:r>
            <a:endParaRPr lang="en-US" sz="900" dirty="0"/>
          </a:p>
        </p:txBody>
      </p:sp>
      <p:sp>
        <p:nvSpPr>
          <p:cNvPr id="7" name="Screenshot 3 placeholder"/>
          <p:cNvSpPr/>
          <p:nvPr/>
        </p:nvSpPr>
        <p:spPr>
          <a:xfrm>
            <a:off x="6035040" y="1051560"/>
            <a:ext cx="2651760" cy="1490472"/>
          </a:xfrm>
          <a:prstGeom prst="rect">
            <a:avLst/>
          </a:prstGeom>
          <a:solidFill>
            <a:schemeClr val="bg1">
              <a:alpha val="75000"/>
            </a:schemeClr>
          </a:solidFill>
          <a:ln w="12700">
            <a:solidFill>
              <a:srgbClr val="7A8794"/>
            </a:solidFill>
            <a:prstDash val="dash"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8794"/>
                </a:solidFill>
              </a:rPr>
              <a:t>3  Insert screenshot</a:t>
            </a:r>
            <a:endParaRPr lang="en-US" sz="1100" dirty="0"/>
          </a:p>
        </p:txBody>
      </p:sp>
      <p:sp>
        <p:nvSpPr>
          <p:cNvPr id="8" name="Caption 3"/>
          <p:cNvSpPr txBox="1"/>
          <p:nvPr/>
        </p:nvSpPr>
        <p:spPr>
          <a:xfrm>
            <a:off x="6053328" y="450342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chemeClr val="tx1"/>
                </a:solidFill>
              </a:rPr>
              <a:t> Telegram: confirmation after Approve, with the PDF</a:t>
            </a:r>
            <a:endParaRPr lang="en-US" sz="900" dirty="0"/>
          </a:p>
        </p:txBody>
      </p:sp>
      <p:sp>
        <p:nvSpPr>
          <p:cNvPr id="10" name="Caption 4"/>
          <p:cNvSpPr txBox="1"/>
          <p:nvPr/>
        </p:nvSpPr>
        <p:spPr>
          <a:xfrm>
            <a:off x="1737111" y="366523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2" name="Caption 5"/>
          <p:cNvSpPr txBox="1"/>
          <p:nvPr/>
        </p:nvSpPr>
        <p:spPr>
          <a:xfrm>
            <a:off x="647700" y="6400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4" name="Caption 6"/>
          <p:cNvSpPr txBox="1"/>
          <p:nvPr/>
        </p:nvSpPr>
        <p:spPr>
          <a:xfrm>
            <a:off x="457200" y="449884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chemeClr val="tx1"/>
                </a:solidFill>
              </a:rPr>
              <a:t> Supabase case_events table: the automatic timeline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8362D64-0AAF-221C-CD8F-66D8D4D5D9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7420" y="1036699"/>
            <a:ext cx="2750747" cy="341071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85BE1DD-79E5-8164-0274-E4EE922598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8760" y="1036699"/>
            <a:ext cx="2788920" cy="3410712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F2A9C62F-B805-7AAC-1AB1-2486DC75B2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141" y="1036699"/>
            <a:ext cx="2742556" cy="1549909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21BC68BA-A535-1138-ADC6-1C05484E545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833" y="2868166"/>
            <a:ext cx="2705173" cy="154990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713E09-0559-0A5E-693A-047DA4DB24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53DBBE3-6124-3934-F119-9929DB7346BC}"/>
              </a:ext>
            </a:extLst>
          </p:cNvPr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chemeClr val="accent1"/>
                </a:solidFill>
              </a:rPr>
              <a:t>Screenshots of  Project</a:t>
            </a:r>
            <a:endParaRPr lang="en-US" sz="4000" dirty="0"/>
          </a:p>
        </p:txBody>
      </p:sp>
      <p:sp>
        <p:nvSpPr>
          <p:cNvPr id="6" name="Caption 2">
            <a:extLst>
              <a:ext uri="{FF2B5EF4-FFF2-40B4-BE49-F238E27FC236}">
                <a16:creationId xmlns:a16="http://schemas.microsoft.com/office/drawing/2014/main" id="{98845AB5-78A0-8D16-CFF3-88387B2606B6}"/>
              </a:ext>
            </a:extLst>
          </p:cNvPr>
          <p:cNvSpPr txBox="1"/>
          <p:nvPr/>
        </p:nvSpPr>
        <p:spPr>
          <a:xfrm>
            <a:off x="5577840" y="84124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0" name="Caption 4">
            <a:extLst>
              <a:ext uri="{FF2B5EF4-FFF2-40B4-BE49-F238E27FC236}">
                <a16:creationId xmlns:a16="http://schemas.microsoft.com/office/drawing/2014/main" id="{973D1B5C-0681-4000-B89F-DF5063285DC8}"/>
              </a:ext>
            </a:extLst>
          </p:cNvPr>
          <p:cNvSpPr txBox="1"/>
          <p:nvPr/>
        </p:nvSpPr>
        <p:spPr>
          <a:xfrm>
            <a:off x="457200" y="4942332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chemeClr val="tx1"/>
                </a:solidFill>
              </a:rPr>
              <a:t> Generated PDF: complaint letter (fake data)</a:t>
            </a:r>
            <a:endParaRPr lang="en-US" sz="900" dirty="0"/>
          </a:p>
        </p:txBody>
      </p:sp>
      <p:sp>
        <p:nvSpPr>
          <p:cNvPr id="12" name="Caption 5">
            <a:extLst>
              <a:ext uri="{FF2B5EF4-FFF2-40B4-BE49-F238E27FC236}">
                <a16:creationId xmlns:a16="http://schemas.microsoft.com/office/drawing/2014/main" id="{25194708-EBF0-FC29-4593-BE715A31BCE4}"/>
              </a:ext>
            </a:extLst>
          </p:cNvPr>
          <p:cNvSpPr txBox="1"/>
          <p:nvPr/>
        </p:nvSpPr>
        <p:spPr>
          <a:xfrm>
            <a:off x="5196840" y="361252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chemeClr val="tx1"/>
                </a:solidFill>
              </a:rPr>
              <a:t> Supabase cases table: route, authority, deadline, status = filed</a:t>
            </a:r>
            <a:endParaRPr lang="en-US" sz="900" dirty="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8B4C9DDB-692F-7309-1BFA-6912C99C6E6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1C80F62-F35C-BFCD-76DE-61272FC67A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042" y="1005840"/>
            <a:ext cx="2750792" cy="389600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341E1A6-30D1-6AD4-AFD5-850194E469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53768" y="1005840"/>
            <a:ext cx="5717642" cy="13716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091A0DD-D1BC-6A58-BAB7-FCAC4B9A01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53768" y="2571750"/>
            <a:ext cx="5722620" cy="840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99229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dirty="0"/>
              <a:t>Roadmap , Safety , Ethics And Limits</a:t>
            </a:r>
          </a:p>
        </p:txBody>
      </p:sp>
      <p:sp>
        <p:nvSpPr>
          <p:cNvPr id="3" name="Roadmap"/>
          <p:cNvSpPr/>
          <p:nvPr/>
        </p:nvSpPr>
        <p:spPr>
          <a:xfrm>
            <a:off x="457200" y="1005840"/>
            <a:ext cx="2651760" cy="3154680"/>
          </a:xfrm>
          <a:prstGeom prst="roundRect">
            <a:avLst>
              <a:gd name="adj" fmla="val 2759"/>
            </a:avLst>
          </a:prstGeom>
          <a:solidFill>
            <a:schemeClr val="bg1">
              <a:alpha val="92000"/>
            </a:schemeClr>
          </a:solidFill>
          <a:ln w="9525">
            <a:solidFill>
              <a:schemeClr val="accent2"/>
            </a:solidFill>
          </a:ln>
        </p:spPr>
        <p:txBody>
          <a:bodyPr wrap="square" lIns="114300" tIns="127000" rIns="127000" bIns="7620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300" b="1" dirty="0">
                <a:solidFill>
                  <a:schemeClr val="accent2"/>
                </a:solidFill>
              </a:rPr>
              <a:t>Roadmap (stages 4-7)</a:t>
            </a:r>
            <a:endParaRPr lang="en-US" sz="1050" dirty="0"/>
          </a:p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A Wait node sleeps until the legal deadline.</a:t>
            </a:r>
            <a:endParaRPr lang="en-US" sz="1050" dirty="0"/>
          </a:p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A reply monitor reads the authority's response.</a:t>
            </a:r>
            <a:endParaRPr lang="en-US" sz="1050" dirty="0"/>
          </a:p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An AI classifier labels it resolved, rejected, stalling or irrelevant.</a:t>
            </a:r>
            <a:endParaRPr lang="en-US" sz="1050" dirty="0"/>
          </a:p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Auto-escalation: the next legal step, citing the earlier reference number.</a:t>
            </a:r>
            <a:endParaRPr lang="en-US" sz="1050" dirty="0"/>
          </a:p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A public board showing which departments respond fastest.</a:t>
            </a:r>
            <a:endParaRPr lang="en-US" sz="1050" dirty="0"/>
          </a:p>
        </p:txBody>
      </p:sp>
      <p:sp>
        <p:nvSpPr>
          <p:cNvPr id="4" name="Safety"/>
          <p:cNvSpPr/>
          <p:nvPr/>
        </p:nvSpPr>
        <p:spPr>
          <a:xfrm>
            <a:off x="3246120" y="1005840"/>
            <a:ext cx="2651760" cy="3154680"/>
          </a:xfrm>
          <a:prstGeom prst="roundRect">
            <a:avLst>
              <a:gd name="adj" fmla="val 2759"/>
            </a:avLst>
          </a:prstGeom>
          <a:solidFill>
            <a:schemeClr val="bg1">
              <a:alpha val="92000"/>
            </a:schemeClr>
          </a:solidFill>
          <a:ln w="9525">
            <a:solidFill>
              <a:schemeClr val="accent2"/>
            </a:solidFill>
          </a:ln>
        </p:spPr>
        <p:txBody>
          <a:bodyPr wrap="square" lIns="114300" tIns="127000" rIns="127000" bIns="7620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300" b="1" dirty="0">
                <a:solidFill>
                  <a:schemeClr val="accent2"/>
                </a:solidFill>
              </a:rPr>
              <a:t>Safety and ethics</a:t>
            </a:r>
            <a:endParaRPr lang="en-US" sz="1050" dirty="0"/>
          </a:p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Nothing is filed without the citizen's approval.</a:t>
            </a:r>
            <a:endParaRPr lang="en-US" sz="1050" dirty="0"/>
          </a:p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No impersonation; only public grievance channels.</a:t>
            </a:r>
            <a:endParaRPr lang="en-US" sz="1050" dirty="0"/>
          </a:p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A drafting aid, not legal advice.</a:t>
            </a:r>
            <a:endParaRPr lang="en-US" sz="1050" dirty="0"/>
          </a:p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The public board is anonymised: no names or messages.</a:t>
            </a:r>
            <a:endParaRPr lang="en-US" sz="1050" dirty="0"/>
          </a:p>
        </p:txBody>
      </p:sp>
      <p:sp>
        <p:nvSpPr>
          <p:cNvPr id="5" name="Limits"/>
          <p:cNvSpPr/>
          <p:nvPr/>
        </p:nvSpPr>
        <p:spPr>
          <a:xfrm>
            <a:off x="6035040" y="1005840"/>
            <a:ext cx="2651760" cy="3154680"/>
          </a:xfrm>
          <a:prstGeom prst="roundRect">
            <a:avLst>
              <a:gd name="adj" fmla="val 2759"/>
            </a:avLst>
          </a:prstGeom>
          <a:solidFill>
            <a:schemeClr val="bg1">
              <a:alpha val="92000"/>
            </a:schemeClr>
          </a:solidFill>
          <a:ln w="9525">
            <a:solidFill>
              <a:schemeClr val="accent2"/>
            </a:solidFill>
          </a:ln>
        </p:spPr>
        <p:txBody>
          <a:bodyPr wrap="square" lIns="114300" tIns="127000" rIns="127000" bIns="7620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300" b="1" dirty="0">
                <a:solidFill>
                  <a:schemeClr val="accent2"/>
                </a:solidFill>
              </a:rPr>
              <a:t>Limits and future</a:t>
            </a:r>
            <a:endParaRPr lang="en-US" sz="1050" dirty="0"/>
          </a:p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Route notes must be verified against official sources before real use.</a:t>
            </a:r>
            <a:endParaRPr lang="en-US" sz="1050" dirty="0"/>
          </a:p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Gemini's free tier caps daily requests.</a:t>
            </a:r>
            <a:endParaRPr lang="en-US" sz="1050" dirty="0"/>
          </a:p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Next: WhatsApp, more Indian languages, partnership with legal-aid groups.</a:t>
            </a:r>
            <a:endParaRPr lang="en-US" sz="1050" dirty="0"/>
          </a:p>
        </p:txBody>
      </p:sp>
      <p:sp>
        <p:nvSpPr>
          <p:cNvPr id="6" name="Links"/>
          <p:cNvSpPr/>
          <p:nvPr/>
        </p:nvSpPr>
        <p:spPr>
          <a:xfrm>
            <a:off x="457200" y="4315968"/>
            <a:ext cx="8229600" cy="740664"/>
          </a:xfrm>
          <a:prstGeom prst="roundRect">
            <a:avLst>
              <a:gd name="adj" fmla="val 16000"/>
            </a:avLst>
          </a:prstGeom>
          <a:solidFill>
            <a:schemeClr val="bg1">
              <a:alpha val="92000"/>
            </a:schemeClr>
          </a:solidFill>
          <a:ln w="9525">
            <a:solidFill>
              <a:schemeClr val="accent2"/>
            </a:solidFill>
          </a:ln>
        </p:spPr>
        <p:txBody>
          <a:bodyPr wrap="square" lIns="0" tIns="152400" rIns="15240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GitHub:  </a:t>
            </a:r>
            <a:r>
              <a:rPr lang="en-US" sz="1200" u="sng" dirty="0">
                <a:solidFill>
                  <a:schemeClr val="tx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github.com/HimanshuYadav5998</a:t>
            </a:r>
            <a:endParaRPr lang="en-US" sz="1200" u="sng" dirty="0">
              <a:solidFill>
                <a:schemeClr val="tx1"/>
              </a:solidFill>
            </a:endParaRPr>
          </a:p>
          <a:p>
            <a:r>
              <a:rPr lang="en-US" sz="1200" b="1" dirty="0"/>
              <a:t>GitHub repo :  </a:t>
            </a:r>
            <a:r>
              <a:rPr lang="en-US" sz="1200" dirty="0"/>
              <a:t>https://github.com/HimanshuYadav5998/TeamTimer.git</a:t>
            </a:r>
            <a:endParaRPr lang="en-US" sz="1200" b="1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ckSprint NYAYA-LOOP">
  <a:themeElements>
    <a:clrScheme name="HackSprint NYAYA-LOOP">
      <a:dk1>
        <a:srgbClr val="1F2A37"/>
      </a:dk1>
      <a:lt1>
        <a:srgbClr val="FFFFFF"/>
      </a:lt1>
      <a:dk2>
        <a:srgbClr val="0B4F4A"/>
      </a:dk2>
      <a:lt2>
        <a:srgbClr val="F6F3F0"/>
      </a:lt2>
      <a:accent1>
        <a:srgbClr val="5CE1E6"/>
      </a:accent1>
      <a:accent2>
        <a:srgbClr val="0E7C7B"/>
      </a:accent2>
      <a:accent3>
        <a:srgbClr val="3A7CAD"/>
      </a:accent3>
      <a:accent4>
        <a:srgbClr val="6B46C1"/>
      </a:accent4>
      <a:accent5>
        <a:srgbClr val="C2650A"/>
      </a:accent5>
      <a:accent6>
        <a:srgbClr val="1F9D55"/>
      </a:accent6>
      <a:hlink>
        <a:srgbClr val="1D4ED8"/>
      </a:hlink>
      <a:folHlink>
        <a:srgbClr val="6B46C1"/>
      </a:folHlink>
    </a:clrScheme>
    <a:fontScheme name="HackSprint NYAYA-LOOP">
      <a:majorFont>
        <a:latin typeface="Times New Roma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697</Words>
  <Application>Microsoft Office PowerPoint</Application>
  <PresentationFormat>On-screen Show (16:9)</PresentationFormat>
  <Paragraphs>102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Georgia</vt:lpstr>
      <vt:lpstr>HackSprint NYAYA-LOOP</vt:lpstr>
      <vt:lpstr>PowerPoint Presentation</vt:lpstr>
      <vt:lpstr>Solution</vt:lpstr>
      <vt:lpstr>Tech Stack &amp; Architecture</vt:lpstr>
      <vt:lpstr>Architecture Diagram</vt:lpstr>
      <vt:lpstr>Data Flow Diagram</vt:lpstr>
      <vt:lpstr>Screenshots of Project</vt:lpstr>
      <vt:lpstr>Screenshots of  Project</vt:lpstr>
      <vt:lpstr>Roadmap , Safety , Ethics And Limits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NYAYA-LOOP - HackSprint</dc:title>
  <dc:subject>PptxGenJS Presentation</dc:subject>
  <dc:creator>Himanshu Yadav</dc:creator>
  <cp:lastModifiedBy>Himanshu yadav</cp:lastModifiedBy>
  <cp:revision>2</cp:revision>
  <dcterms:created xsi:type="dcterms:W3CDTF">2026-10-04T18:10:30Z</dcterms:created>
  <dcterms:modified xsi:type="dcterms:W3CDTF">2026-10-05T16:00:01Z</dcterms:modified>
</cp:coreProperties>
</file>